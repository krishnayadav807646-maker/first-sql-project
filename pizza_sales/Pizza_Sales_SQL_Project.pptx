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explain: Counts every order_id in the orders table. This is the base number every other metric is compared with. Then mention which business question it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explain: order_details has the quantity and pizzas has the price, so I join them and add up quantity x price for every row. Then mention which business question it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explain: Joins pizza names with their prices, sorts the price from high to low and keeps only the first row. Then mention which business question it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explain: Adds up the quantity ordered for each size and shows the size with the highest total. Then mention which business question it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explain: Three tables are joined to reach the pizza name. Quantity is summed per name and the top 5 are kept. Then mention which business question it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explain: Same join path as the previous query, but grouped by category to compare demand between categories. Then mention which business question it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explain: HOUR() pulls the hour out of order_time, so the orders can be counted for each hour. Useful to find peak hours. Then mention which business question it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explain: Counts how many different pizza types each category has on the menu. DISTINCT avoids counting the same type for every size. Then mention which business question it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explain: The inner query gives the total pizzas for each date. The outer query takes the average of those daily totals. Then mention which business question it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explain: Revenue is quantity x price, summed for every pizza name. Sorting by revenue and limiting to 3 gives the top earners. Then mention which business question it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explain: The subquery calculates total revenue once. Each pizza's revenue x 100 divided by that total is its percentage share. Then mention which business question it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explain: First I calculate revenue for each day. Then SUM() OVER (ORDER BY order_date) keeps adding the days to give a running total. Then mention which business question it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explain: RANK() restarts for every category (PARTITION BY). The outer query keeps only the pizzas ranked 1 to 3 in each category. Then mention which business question it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A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452B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645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3E26"/>
                </a:solidFill>
              </a:rPr>
              <a:t>Pizza Sales Analysis  |  SQL Project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8C1C13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3E2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3E2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2A93B"/>
                </a:solidFill>
              </a:rPr>
              <a:t>SQL PROJECT  |  MySQL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PIZZA SALES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1DFC0"/>
                </a:solidFill>
              </a:rPr>
              <a:t>13 business questions answered with SQL: from simple counts to revenue share and running totals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93B"/>
                </a:solidFill>
              </a:rPr>
              <a:t>Presented by: Your Name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1C13"/>
                </a:solidFill>
              </a:rPr>
              <a:t>About the Project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A17"/>
                </a:solidFill>
              </a:rPr>
              <a:t>In this project I worked with the sales data of a pizza restaurant and used MySQL to find out what sells, when customers order and where the revenue comes from.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A17"/>
                </a:solidFill>
              </a:rPr>
              <a:t>I started with simple counts and totals, moved on to joins and grouping, and finished with subqueries and window functions.</a:t>
            </a:r>
            <a:endParaRPr lang="en-US" sz="1400" dirty="0"/>
          </a:p>
        </p:txBody>
      </p:sp>
      <p:sp>
        <p:nvSpPr>
          <p:cNvPr id="4" name="toolcard"/>
          <p:cNvSpPr/>
          <p:nvPr/>
        </p:nvSpPr>
        <p:spPr>
          <a:xfrm>
            <a:off x="5120640" y="100584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4924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C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and Skills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349240" y="160020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A17"/>
                </a:solidFill>
              </a:rPr>
              <a:t>MySQL Workbench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A17"/>
                </a:solidFill>
              </a:rPr>
              <a:t>Database: PIZZA_SALES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A17"/>
                </a:solidFill>
              </a:rPr>
              <a:t>Joins across 4 tables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A17"/>
                </a:solidFill>
              </a:rPr>
              <a:t>Aggregations and GROUP BY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A17"/>
                </a:solidFill>
              </a:rPr>
              <a:t>Subqueries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A17"/>
                </a:solidFill>
              </a:rPr>
              <a:t>Window functions (RANK, SUM OVER)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3E2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1C13"/>
                </a:solidFill>
              </a:rPr>
              <a:t>Database Schema</a:t>
            </a:r>
            <a:endParaRPr lang="en-US" sz="2400" dirty="0"/>
          </a:p>
        </p:txBody>
      </p:sp>
      <p:pic>
        <p:nvPicPr>
          <p:cNvPr id="3" name="Image 0" descr="Database schema diagram of the four 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24387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3E26"/>
                </a:solidFill>
              </a:rPr>
              <a:t>One order has many order lines (order_details). Each line refers to one pizza (pizzas), and each pizza belongs to one pizza type (pizza_types).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3E26"/>
                </a:solidFill>
              </a:rPr>
              <a:t>Only the columns used in this project are shown.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3E2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1C13"/>
                </a:solidFill>
              </a:rPr>
              <a:t>Questions I Answered</a:t>
            </a:r>
            <a:endParaRPr lang="en-US" sz="2400" dirty="0"/>
          </a:p>
        </p:txBody>
      </p:sp>
      <p:sp>
        <p:nvSpPr>
          <p:cNvPr id="3" name="num0"/>
          <p:cNvSpPr/>
          <p:nvPr/>
        </p:nvSpPr>
        <p:spPr>
          <a:xfrm>
            <a:off x="457200" y="1005840"/>
            <a:ext cx="347472" cy="347472"/>
          </a:xfrm>
          <a:prstGeom prst="ellipse">
            <a:avLst/>
          </a:prstGeom>
          <a:solidFill>
            <a:srgbClr val="D645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</a:rPr>
              <a:t>Total orders placed</a:t>
            </a:r>
            <a:endParaRPr lang="en-US" sz="1300" dirty="0"/>
          </a:p>
        </p:txBody>
      </p:sp>
      <p:sp>
        <p:nvSpPr>
          <p:cNvPr id="6" name="num1"/>
          <p:cNvSpPr/>
          <p:nvPr/>
        </p:nvSpPr>
        <p:spPr>
          <a:xfrm>
            <a:off x="457200" y="1508760"/>
            <a:ext cx="347472" cy="347472"/>
          </a:xfrm>
          <a:prstGeom prst="ellipse">
            <a:avLst/>
          </a:prstGeom>
          <a:solidFill>
            <a:srgbClr val="D645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508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</a:rPr>
              <a:t>Total revenue from pizza sales</a:t>
            </a:r>
            <a:endParaRPr lang="en-US" sz="1300" dirty="0"/>
          </a:p>
        </p:txBody>
      </p:sp>
      <p:sp>
        <p:nvSpPr>
          <p:cNvPr id="9" name="num2"/>
          <p:cNvSpPr/>
          <p:nvPr/>
        </p:nvSpPr>
        <p:spPr>
          <a:xfrm>
            <a:off x="457200" y="2011680"/>
            <a:ext cx="347472" cy="347472"/>
          </a:xfrm>
          <a:prstGeom prst="ellipse">
            <a:avLst/>
          </a:prstGeom>
          <a:solidFill>
            <a:srgbClr val="D645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011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</a:rPr>
              <a:t>Highest-priced pizza</a:t>
            </a:r>
            <a:endParaRPr lang="en-US" sz="1300" dirty="0"/>
          </a:p>
        </p:txBody>
      </p:sp>
      <p:sp>
        <p:nvSpPr>
          <p:cNvPr id="12" name="num3"/>
          <p:cNvSpPr/>
          <p:nvPr/>
        </p:nvSpPr>
        <p:spPr>
          <a:xfrm>
            <a:off x="457200" y="2514600"/>
            <a:ext cx="347472" cy="347472"/>
          </a:xfrm>
          <a:prstGeom prst="ellipse">
            <a:avLst/>
          </a:prstGeom>
          <a:solidFill>
            <a:srgbClr val="D645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514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</a:rPr>
              <a:t>Most common pizza size ordered</a:t>
            </a:r>
            <a:endParaRPr lang="en-US" sz="1300" dirty="0"/>
          </a:p>
        </p:txBody>
      </p:sp>
      <p:sp>
        <p:nvSpPr>
          <p:cNvPr id="15" name="num4"/>
          <p:cNvSpPr/>
          <p:nvPr/>
        </p:nvSpPr>
        <p:spPr>
          <a:xfrm>
            <a:off x="457200" y="3017520"/>
            <a:ext cx="347472" cy="347472"/>
          </a:xfrm>
          <a:prstGeom prst="ellipse">
            <a:avLst/>
          </a:prstGeom>
          <a:solidFill>
            <a:srgbClr val="D645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017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</a:rPr>
              <a:t>Top 5 most ordered pizza types</a:t>
            </a:r>
            <a:endParaRPr lang="en-US" sz="1300" dirty="0"/>
          </a:p>
        </p:txBody>
      </p:sp>
      <p:sp>
        <p:nvSpPr>
          <p:cNvPr id="18" name="num5"/>
          <p:cNvSpPr/>
          <p:nvPr/>
        </p:nvSpPr>
        <p:spPr>
          <a:xfrm>
            <a:off x="457200" y="3520440"/>
            <a:ext cx="347472" cy="347472"/>
          </a:xfrm>
          <a:prstGeom prst="ellipse">
            <a:avLst/>
          </a:prstGeom>
          <a:solidFill>
            <a:srgbClr val="D645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520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</a:rPr>
              <a:t>Quantity ordered per pizza category</a:t>
            </a:r>
            <a:endParaRPr lang="en-US" sz="1300" dirty="0"/>
          </a:p>
        </p:txBody>
      </p:sp>
      <p:sp>
        <p:nvSpPr>
          <p:cNvPr id="21" name="num6"/>
          <p:cNvSpPr/>
          <p:nvPr/>
        </p:nvSpPr>
        <p:spPr>
          <a:xfrm>
            <a:off x="457200" y="4023360"/>
            <a:ext cx="347472" cy="347472"/>
          </a:xfrm>
          <a:prstGeom prst="ellipse">
            <a:avLst/>
          </a:prstGeom>
          <a:solidFill>
            <a:srgbClr val="D645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023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</a:rPr>
              <a:t>Orders by hour of the day</a:t>
            </a:r>
            <a:endParaRPr lang="en-US" sz="1300" dirty="0"/>
          </a:p>
        </p:txBody>
      </p:sp>
      <p:sp>
        <p:nvSpPr>
          <p:cNvPr id="24" name="num7"/>
          <p:cNvSpPr/>
          <p:nvPr/>
        </p:nvSpPr>
        <p:spPr>
          <a:xfrm>
            <a:off x="4663440" y="1005840"/>
            <a:ext cx="347472" cy="347472"/>
          </a:xfrm>
          <a:prstGeom prst="ellipse">
            <a:avLst/>
          </a:prstGeom>
          <a:solidFill>
            <a:srgbClr val="D645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63440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</a:rPr>
              <a:t>Category-wise distribution of pizzas</a:t>
            </a:r>
            <a:endParaRPr lang="en-US" sz="1300" dirty="0"/>
          </a:p>
        </p:txBody>
      </p:sp>
      <p:sp>
        <p:nvSpPr>
          <p:cNvPr id="27" name="num8"/>
          <p:cNvSpPr/>
          <p:nvPr/>
        </p:nvSpPr>
        <p:spPr>
          <a:xfrm>
            <a:off x="4663440" y="1508760"/>
            <a:ext cx="347472" cy="347472"/>
          </a:xfrm>
          <a:prstGeom prst="ellipse">
            <a:avLst/>
          </a:prstGeom>
          <a:solidFill>
            <a:srgbClr val="D6452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66344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120640" y="1508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</a:rPr>
              <a:t>Average pizzas ordered per day</a:t>
            </a:r>
            <a:endParaRPr lang="en-US" sz="1300" dirty="0"/>
          </a:p>
        </p:txBody>
      </p:sp>
      <p:sp>
        <p:nvSpPr>
          <p:cNvPr id="30" name="num9"/>
          <p:cNvSpPr/>
          <p:nvPr/>
        </p:nvSpPr>
        <p:spPr>
          <a:xfrm>
            <a:off x="4663440" y="2011680"/>
            <a:ext cx="347472" cy="347472"/>
          </a:xfrm>
          <a:prstGeom prst="ellipse">
            <a:avLst/>
          </a:prstGeom>
          <a:solidFill>
            <a:srgbClr val="D6452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66344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120640" y="2011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</a:rPr>
              <a:t>Top 3 pizza types by revenue</a:t>
            </a:r>
            <a:endParaRPr lang="en-US" sz="1300" dirty="0"/>
          </a:p>
        </p:txBody>
      </p:sp>
      <p:sp>
        <p:nvSpPr>
          <p:cNvPr id="33" name="num10"/>
          <p:cNvSpPr/>
          <p:nvPr/>
        </p:nvSpPr>
        <p:spPr>
          <a:xfrm>
            <a:off x="4663440" y="2514600"/>
            <a:ext cx="347472" cy="347472"/>
          </a:xfrm>
          <a:prstGeom prst="ellipse">
            <a:avLst/>
          </a:prstGeom>
          <a:solidFill>
            <a:srgbClr val="D6452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663440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120640" y="2514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</a:rPr>
              <a:t>Revenue contribution of each pizza type</a:t>
            </a:r>
            <a:endParaRPr lang="en-US" sz="1300" dirty="0"/>
          </a:p>
        </p:txBody>
      </p:sp>
      <p:sp>
        <p:nvSpPr>
          <p:cNvPr id="36" name="num11"/>
          <p:cNvSpPr/>
          <p:nvPr/>
        </p:nvSpPr>
        <p:spPr>
          <a:xfrm>
            <a:off x="4663440" y="3017520"/>
            <a:ext cx="347472" cy="347472"/>
          </a:xfrm>
          <a:prstGeom prst="ellipse">
            <a:avLst/>
          </a:prstGeom>
          <a:solidFill>
            <a:srgbClr val="D6452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66344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120640" y="3017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</a:rPr>
              <a:t>Cumulative revenue over time</a:t>
            </a:r>
            <a:endParaRPr lang="en-US" sz="1300" dirty="0"/>
          </a:p>
        </p:txBody>
      </p:sp>
      <p:sp>
        <p:nvSpPr>
          <p:cNvPr id="39" name="num12"/>
          <p:cNvSpPr/>
          <p:nvPr/>
        </p:nvSpPr>
        <p:spPr>
          <a:xfrm>
            <a:off x="4663440" y="3520440"/>
            <a:ext cx="347472" cy="347472"/>
          </a:xfrm>
          <a:prstGeom prst="ellipse">
            <a:avLst/>
          </a:prstGeom>
          <a:solidFill>
            <a:srgbClr val="D6452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66344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120640" y="3520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</a:rPr>
              <a:t>Top 3 pizza types by revenue in each category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3E2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1C13"/>
                </a:solidFill>
              </a:rPr>
              <a:t>Q1: Total Orders Placed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1A17"/>
                </a:solidFill>
              </a:rPr>
              <a:t>Retrieve the total number of orders placed.</a:t>
            </a:r>
            <a:endParaRPr lang="en-US" sz="1200" dirty="0"/>
          </a:p>
        </p:txBody>
      </p:sp>
      <p:pic>
        <p:nvPicPr>
          <p:cNvPr id="4" name="Image 0" descr="SQL query for questi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12080" cy="3474720"/>
          </a:xfrm>
          <a:prstGeom prst="rect">
            <a:avLst/>
          </a:prstGeom>
        </p:spPr>
      </p:pic>
      <p:sp>
        <p:nvSpPr>
          <p:cNvPr id="5" name="howcard"/>
          <p:cNvSpPr/>
          <p:nvPr/>
        </p:nvSpPr>
        <p:spPr>
          <a:xfrm>
            <a:off x="5897880" y="1188720"/>
            <a:ext cx="27889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28016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How it works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Counts every order_id in the orders table. This is the base number every other metric is compared with.</a:t>
            </a:r>
            <a:endParaRPr lang="en-US" sz="1200" dirty="0"/>
          </a:p>
        </p:txBody>
      </p:sp>
      <p:sp>
        <p:nvSpPr>
          <p:cNvPr id="7" name="conceptcard"/>
          <p:cNvSpPr/>
          <p:nvPr/>
        </p:nvSpPr>
        <p:spPr>
          <a:xfrm>
            <a:off x="5897880" y="3429000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F1DFC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035040" y="35204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Concepts used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COUNT, Alias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3E2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1C13"/>
                </a:solidFill>
              </a:rPr>
              <a:t>Q2: Total Revenue from Pizza Sales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1A17"/>
                </a:solidFill>
              </a:rPr>
              <a:t>Calculate the total revenue generated from pizza sales.</a:t>
            </a:r>
            <a:endParaRPr lang="en-US" sz="1200" dirty="0"/>
          </a:p>
        </p:txBody>
      </p:sp>
      <p:pic>
        <p:nvPicPr>
          <p:cNvPr id="4" name="Image 0" descr="SQL query for question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12080" cy="3474720"/>
          </a:xfrm>
          <a:prstGeom prst="rect">
            <a:avLst/>
          </a:prstGeom>
        </p:spPr>
      </p:pic>
      <p:sp>
        <p:nvSpPr>
          <p:cNvPr id="5" name="howcard"/>
          <p:cNvSpPr/>
          <p:nvPr/>
        </p:nvSpPr>
        <p:spPr>
          <a:xfrm>
            <a:off x="5897880" y="1188720"/>
            <a:ext cx="27889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28016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How it works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order_details has the quantity and pizzas has the price, so I join them and add up quantity x price for every row.</a:t>
            </a:r>
            <a:endParaRPr lang="en-US" sz="1200" dirty="0"/>
          </a:p>
        </p:txBody>
      </p:sp>
      <p:sp>
        <p:nvSpPr>
          <p:cNvPr id="7" name="conceptcard"/>
          <p:cNvSpPr/>
          <p:nvPr/>
        </p:nvSpPr>
        <p:spPr>
          <a:xfrm>
            <a:off x="5897880" y="3429000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F1DFC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035040" y="35204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Concepts used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JOIN, SUM, Alias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3E2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1C13"/>
                </a:solidFill>
              </a:rPr>
              <a:t>Q3: Highest-Priced Pizza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1A17"/>
                </a:solidFill>
              </a:rPr>
              <a:t>Identify the highest-priced pizza.</a:t>
            </a:r>
            <a:endParaRPr lang="en-US" sz="1200" dirty="0"/>
          </a:p>
        </p:txBody>
      </p:sp>
      <p:pic>
        <p:nvPicPr>
          <p:cNvPr id="4" name="Image 0" descr="SQL query for question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12080" cy="3474720"/>
          </a:xfrm>
          <a:prstGeom prst="rect">
            <a:avLst/>
          </a:prstGeom>
        </p:spPr>
      </p:pic>
      <p:sp>
        <p:nvSpPr>
          <p:cNvPr id="5" name="howcard"/>
          <p:cNvSpPr/>
          <p:nvPr/>
        </p:nvSpPr>
        <p:spPr>
          <a:xfrm>
            <a:off x="5897880" y="1188720"/>
            <a:ext cx="27889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28016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How it works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Joins pizza names with their prices, sorts the price from high to low and keeps only the first row.</a:t>
            </a:r>
            <a:endParaRPr lang="en-US" sz="1200" dirty="0"/>
          </a:p>
        </p:txBody>
      </p:sp>
      <p:sp>
        <p:nvSpPr>
          <p:cNvPr id="7" name="conceptcard"/>
          <p:cNvSpPr/>
          <p:nvPr/>
        </p:nvSpPr>
        <p:spPr>
          <a:xfrm>
            <a:off x="5897880" y="3429000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F1DFC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035040" y="35204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Concepts used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JOIN, ORDER BY, LIMIT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3E2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1C13"/>
                </a:solidFill>
              </a:rPr>
              <a:t>Q4: Most Common Pizza Size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1A17"/>
                </a:solidFill>
              </a:rPr>
              <a:t>Identify the most common pizza size ordered.</a:t>
            </a:r>
            <a:endParaRPr lang="en-US" sz="1200" dirty="0"/>
          </a:p>
        </p:txBody>
      </p:sp>
      <p:pic>
        <p:nvPicPr>
          <p:cNvPr id="4" name="Image 0" descr="SQL query for question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12080" cy="3474720"/>
          </a:xfrm>
          <a:prstGeom prst="rect">
            <a:avLst/>
          </a:prstGeom>
        </p:spPr>
      </p:pic>
      <p:sp>
        <p:nvSpPr>
          <p:cNvPr id="5" name="howcard"/>
          <p:cNvSpPr/>
          <p:nvPr/>
        </p:nvSpPr>
        <p:spPr>
          <a:xfrm>
            <a:off x="5897880" y="1188720"/>
            <a:ext cx="27889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28016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How it works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Adds up the quantity ordered for each size and shows the size with the highest total.</a:t>
            </a:r>
            <a:endParaRPr lang="en-US" sz="1200" dirty="0"/>
          </a:p>
        </p:txBody>
      </p:sp>
      <p:sp>
        <p:nvSpPr>
          <p:cNvPr id="7" name="conceptcard"/>
          <p:cNvSpPr/>
          <p:nvPr/>
        </p:nvSpPr>
        <p:spPr>
          <a:xfrm>
            <a:off x="5897880" y="3429000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F1DFC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035040" y="35204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Concepts used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JOIN, GROUP BY, SUM, LIMIT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3E2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1C13"/>
                </a:solidFill>
              </a:rPr>
              <a:t>Q5: Top 5 Most Ordered Pizza Types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1A17"/>
                </a:solidFill>
              </a:rPr>
              <a:t>List the top 5 most ordered pizza types along with their quantities.</a:t>
            </a:r>
            <a:endParaRPr lang="en-US" sz="1200" dirty="0"/>
          </a:p>
        </p:txBody>
      </p:sp>
      <p:pic>
        <p:nvPicPr>
          <p:cNvPr id="4" name="Image 0" descr="SQL query for question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12080" cy="3474720"/>
          </a:xfrm>
          <a:prstGeom prst="rect">
            <a:avLst/>
          </a:prstGeom>
        </p:spPr>
      </p:pic>
      <p:sp>
        <p:nvSpPr>
          <p:cNvPr id="5" name="howcard"/>
          <p:cNvSpPr/>
          <p:nvPr/>
        </p:nvSpPr>
        <p:spPr>
          <a:xfrm>
            <a:off x="5897880" y="1188720"/>
            <a:ext cx="27889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28016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How it works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Three tables are joined to reach the pizza name. Quantity is summed per name and the top 5 are kept.</a:t>
            </a:r>
            <a:endParaRPr lang="en-US" sz="1200" dirty="0"/>
          </a:p>
        </p:txBody>
      </p:sp>
      <p:sp>
        <p:nvSpPr>
          <p:cNvPr id="7" name="conceptcard"/>
          <p:cNvSpPr/>
          <p:nvPr/>
        </p:nvSpPr>
        <p:spPr>
          <a:xfrm>
            <a:off x="5897880" y="3429000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F1DFC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035040" y="35204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Concepts used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3-table JOIN, GROUP BY, LIMIT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3E2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1C13"/>
                </a:solidFill>
              </a:rPr>
              <a:t>Q6: Quantity Ordered by Category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1A17"/>
                </a:solidFill>
              </a:rPr>
              <a:t>Join the necessary tables to find the total quantity of each pizza category ordered.</a:t>
            </a:r>
            <a:endParaRPr lang="en-US" sz="1200" dirty="0"/>
          </a:p>
        </p:txBody>
      </p:sp>
      <p:pic>
        <p:nvPicPr>
          <p:cNvPr id="4" name="Image 0" descr="SQL query for question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12080" cy="3474720"/>
          </a:xfrm>
          <a:prstGeom prst="rect">
            <a:avLst/>
          </a:prstGeom>
        </p:spPr>
      </p:pic>
      <p:sp>
        <p:nvSpPr>
          <p:cNvPr id="5" name="howcard"/>
          <p:cNvSpPr/>
          <p:nvPr/>
        </p:nvSpPr>
        <p:spPr>
          <a:xfrm>
            <a:off x="5897880" y="1188720"/>
            <a:ext cx="27889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28016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How it works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Same join path as the previous query, but grouped by category to compare demand between categories.</a:t>
            </a:r>
            <a:endParaRPr lang="en-US" sz="1200" dirty="0"/>
          </a:p>
        </p:txBody>
      </p:sp>
      <p:sp>
        <p:nvSpPr>
          <p:cNvPr id="7" name="conceptcard"/>
          <p:cNvSpPr/>
          <p:nvPr/>
        </p:nvSpPr>
        <p:spPr>
          <a:xfrm>
            <a:off x="5897880" y="3429000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F1DFC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035040" y="35204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Concepts used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JOIN, GROUP BY, SUM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3E2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1C13"/>
                </a:solidFill>
              </a:rPr>
              <a:t>Q7: Orders by Hour of the Day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1A17"/>
                </a:solidFill>
              </a:rPr>
              <a:t>Determine the distribution of orders by hour of the day.</a:t>
            </a:r>
            <a:endParaRPr lang="en-US" sz="1200" dirty="0"/>
          </a:p>
        </p:txBody>
      </p:sp>
      <p:pic>
        <p:nvPicPr>
          <p:cNvPr id="4" name="Image 0" descr="SQL query for question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12080" cy="3474720"/>
          </a:xfrm>
          <a:prstGeom prst="rect">
            <a:avLst/>
          </a:prstGeom>
        </p:spPr>
      </p:pic>
      <p:sp>
        <p:nvSpPr>
          <p:cNvPr id="5" name="howcard"/>
          <p:cNvSpPr/>
          <p:nvPr/>
        </p:nvSpPr>
        <p:spPr>
          <a:xfrm>
            <a:off x="5897880" y="1188720"/>
            <a:ext cx="27889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28016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How it works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HOUR() pulls the hour out of order_time, so the orders can be counted for each hour. Useful to find peak hours.</a:t>
            </a:r>
            <a:endParaRPr lang="en-US" sz="1200" dirty="0"/>
          </a:p>
        </p:txBody>
      </p:sp>
      <p:sp>
        <p:nvSpPr>
          <p:cNvPr id="7" name="conceptcard"/>
          <p:cNvSpPr/>
          <p:nvPr/>
        </p:nvSpPr>
        <p:spPr>
          <a:xfrm>
            <a:off x="5897880" y="3429000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F1DFC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035040" y="35204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Concepts used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HOUR(), GROUP BY, COUNT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3E2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1C13"/>
                </a:solidFill>
              </a:rPr>
              <a:t>Q8: Category-wise Distribution of Pizzas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1A17"/>
                </a:solidFill>
              </a:rPr>
              <a:t>Join relevant tables to find the category-wise distribution of pizzas.</a:t>
            </a:r>
            <a:endParaRPr lang="en-US" sz="1200" dirty="0"/>
          </a:p>
        </p:txBody>
      </p:sp>
      <p:pic>
        <p:nvPicPr>
          <p:cNvPr id="4" name="Image 0" descr="SQL query for question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12080" cy="3474720"/>
          </a:xfrm>
          <a:prstGeom prst="rect">
            <a:avLst/>
          </a:prstGeom>
        </p:spPr>
      </p:pic>
      <p:sp>
        <p:nvSpPr>
          <p:cNvPr id="5" name="howcard"/>
          <p:cNvSpPr/>
          <p:nvPr/>
        </p:nvSpPr>
        <p:spPr>
          <a:xfrm>
            <a:off x="5897880" y="1188720"/>
            <a:ext cx="27889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28016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How it works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Counts how many different pizza types each category has on the menu. DISTINCT avoids counting the same type for every size.</a:t>
            </a:r>
            <a:endParaRPr lang="en-US" sz="1200" dirty="0"/>
          </a:p>
        </p:txBody>
      </p:sp>
      <p:sp>
        <p:nvSpPr>
          <p:cNvPr id="7" name="conceptcard"/>
          <p:cNvSpPr/>
          <p:nvPr/>
        </p:nvSpPr>
        <p:spPr>
          <a:xfrm>
            <a:off x="5897880" y="3429000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F1DFC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035040" y="35204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Concepts used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JOIN, COUNT DISTINCT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3E2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1C13"/>
                </a:solidFill>
              </a:rPr>
              <a:t>Q9: Average Pizzas Ordered per Day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1A17"/>
                </a:solidFill>
              </a:rPr>
              <a:t>Group the orders by date and calculate the average number of pizzas ordered per day.</a:t>
            </a:r>
            <a:endParaRPr lang="en-US" sz="1200" dirty="0"/>
          </a:p>
        </p:txBody>
      </p:sp>
      <p:pic>
        <p:nvPicPr>
          <p:cNvPr id="4" name="Image 0" descr="SQL query for question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12080" cy="3474720"/>
          </a:xfrm>
          <a:prstGeom prst="rect">
            <a:avLst/>
          </a:prstGeom>
        </p:spPr>
      </p:pic>
      <p:sp>
        <p:nvSpPr>
          <p:cNvPr id="5" name="howcard"/>
          <p:cNvSpPr/>
          <p:nvPr/>
        </p:nvSpPr>
        <p:spPr>
          <a:xfrm>
            <a:off x="5897880" y="1188720"/>
            <a:ext cx="27889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28016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How it works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The inner query gives the total pizzas for each date. The outer query takes the average of those daily totals.</a:t>
            </a:r>
            <a:endParaRPr lang="en-US" sz="1200" dirty="0"/>
          </a:p>
        </p:txBody>
      </p:sp>
      <p:sp>
        <p:nvSpPr>
          <p:cNvPr id="7" name="conceptcard"/>
          <p:cNvSpPr/>
          <p:nvPr/>
        </p:nvSpPr>
        <p:spPr>
          <a:xfrm>
            <a:off x="5897880" y="3429000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F1DFC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035040" y="35204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Concepts used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Subquery, AVG, ROUND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3E2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1C13"/>
                </a:solidFill>
              </a:rPr>
              <a:t>Q10: Top 3 Pizza Types by Revenue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1A17"/>
                </a:solidFill>
              </a:rPr>
              <a:t>Determine the top 3 most ordered pizza types based on revenue.</a:t>
            </a:r>
            <a:endParaRPr lang="en-US" sz="1200" dirty="0"/>
          </a:p>
        </p:txBody>
      </p:sp>
      <p:pic>
        <p:nvPicPr>
          <p:cNvPr id="4" name="Image 0" descr="SQL query for question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12080" cy="3474720"/>
          </a:xfrm>
          <a:prstGeom prst="rect">
            <a:avLst/>
          </a:prstGeom>
        </p:spPr>
      </p:pic>
      <p:sp>
        <p:nvSpPr>
          <p:cNvPr id="5" name="howcard"/>
          <p:cNvSpPr/>
          <p:nvPr/>
        </p:nvSpPr>
        <p:spPr>
          <a:xfrm>
            <a:off x="5897880" y="1188720"/>
            <a:ext cx="27889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28016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How it works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Revenue is quantity x price, summed for every pizza name. Sorting by revenue and limiting to 3 gives the top earners.</a:t>
            </a:r>
            <a:endParaRPr lang="en-US" sz="1200" dirty="0"/>
          </a:p>
        </p:txBody>
      </p:sp>
      <p:sp>
        <p:nvSpPr>
          <p:cNvPr id="7" name="conceptcard"/>
          <p:cNvSpPr/>
          <p:nvPr/>
        </p:nvSpPr>
        <p:spPr>
          <a:xfrm>
            <a:off x="5897880" y="3429000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F1DFC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035040" y="35204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Concepts used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JOIN, SUM, ORDER BY, LIMIT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3E2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1C13"/>
                </a:solidFill>
              </a:rPr>
              <a:t>Q11: Revenue Contribution of Each Pizza Type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1A17"/>
                </a:solidFill>
              </a:rPr>
              <a:t>Calculate the percentage contribution of each pizza type to total revenue.</a:t>
            </a:r>
            <a:endParaRPr lang="en-US" sz="1200" dirty="0"/>
          </a:p>
        </p:txBody>
      </p:sp>
      <p:pic>
        <p:nvPicPr>
          <p:cNvPr id="4" name="Image 0" descr="SQL query for question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12080" cy="3474720"/>
          </a:xfrm>
          <a:prstGeom prst="rect">
            <a:avLst/>
          </a:prstGeom>
        </p:spPr>
      </p:pic>
      <p:sp>
        <p:nvSpPr>
          <p:cNvPr id="5" name="howcard"/>
          <p:cNvSpPr/>
          <p:nvPr/>
        </p:nvSpPr>
        <p:spPr>
          <a:xfrm>
            <a:off x="5897880" y="1188720"/>
            <a:ext cx="27889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28016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How it works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The subquery calculates total revenue once. Each pizza's revenue x 100 divided by that total is its percentage share.</a:t>
            </a:r>
            <a:endParaRPr lang="en-US" sz="1200" dirty="0"/>
          </a:p>
        </p:txBody>
      </p:sp>
      <p:sp>
        <p:nvSpPr>
          <p:cNvPr id="7" name="conceptcard"/>
          <p:cNvSpPr/>
          <p:nvPr/>
        </p:nvSpPr>
        <p:spPr>
          <a:xfrm>
            <a:off x="5897880" y="3429000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F1DFC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035040" y="35204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Concepts used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Subquery, ROUND, JOIN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3E2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1C13"/>
                </a:solidFill>
              </a:rPr>
              <a:t>Q12: Cumulative Revenue Over Time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1A17"/>
                </a:solidFill>
              </a:rPr>
              <a:t>Analyze the cumulative revenue generated over time.</a:t>
            </a:r>
            <a:endParaRPr lang="en-US" sz="1200" dirty="0"/>
          </a:p>
        </p:txBody>
      </p:sp>
      <p:pic>
        <p:nvPicPr>
          <p:cNvPr id="4" name="Image 0" descr="SQL query for question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12080" cy="3474720"/>
          </a:xfrm>
          <a:prstGeom prst="rect">
            <a:avLst/>
          </a:prstGeom>
        </p:spPr>
      </p:pic>
      <p:sp>
        <p:nvSpPr>
          <p:cNvPr id="5" name="howcard"/>
          <p:cNvSpPr/>
          <p:nvPr/>
        </p:nvSpPr>
        <p:spPr>
          <a:xfrm>
            <a:off x="5897880" y="1188720"/>
            <a:ext cx="27889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28016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How it works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First I calculate revenue for each day. Then SUM() OVER (ORDER BY order_date) keeps adding the days to give a running total.</a:t>
            </a:r>
            <a:endParaRPr lang="en-US" sz="1200" dirty="0"/>
          </a:p>
        </p:txBody>
      </p:sp>
      <p:sp>
        <p:nvSpPr>
          <p:cNvPr id="7" name="conceptcard"/>
          <p:cNvSpPr/>
          <p:nvPr/>
        </p:nvSpPr>
        <p:spPr>
          <a:xfrm>
            <a:off x="5897880" y="3429000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F1DFC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035040" y="35204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Concepts used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Window function, Subquery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3E2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1C13"/>
                </a:solidFill>
              </a:rPr>
              <a:t>Q13: Top 3 by Revenue in Each Category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1A17"/>
                </a:solidFill>
              </a:rPr>
              <a:t>Determine the top 3 most ordered pizza types based on revenue for each pizza category.</a:t>
            </a:r>
            <a:endParaRPr lang="en-US" sz="1200" dirty="0"/>
          </a:p>
        </p:txBody>
      </p:sp>
      <p:pic>
        <p:nvPicPr>
          <p:cNvPr id="4" name="Image 0" descr="SQL query for question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12080" cy="3474720"/>
          </a:xfrm>
          <a:prstGeom prst="rect">
            <a:avLst/>
          </a:prstGeom>
        </p:spPr>
      </p:pic>
      <p:sp>
        <p:nvSpPr>
          <p:cNvPr id="5" name="howcard"/>
          <p:cNvSpPr/>
          <p:nvPr/>
        </p:nvSpPr>
        <p:spPr>
          <a:xfrm>
            <a:off x="5897880" y="1188720"/>
            <a:ext cx="27889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28016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How it works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RANK() restarts for every category (PARTITION BY). The outer query keeps only the pizzas ranked 1 to 3 in each category.</a:t>
            </a:r>
            <a:endParaRPr lang="en-US" sz="1200" dirty="0"/>
          </a:p>
        </p:txBody>
      </p:sp>
      <p:sp>
        <p:nvSpPr>
          <p:cNvPr id="7" name="conceptcard"/>
          <p:cNvSpPr/>
          <p:nvPr/>
        </p:nvSpPr>
        <p:spPr>
          <a:xfrm>
            <a:off x="5897880" y="3429000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F1DFC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035040" y="35204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1C13"/>
                </a:solidFill>
              </a:rPr>
              <a:t>Concepts used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A17"/>
                </a:solidFill>
              </a:rPr>
              <a:t>RANK, PARTITION BY, Subquery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3E2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1C13"/>
                </a:solidFill>
              </a:rPr>
              <a:t>Key Learnings</a:t>
            </a:r>
            <a:endParaRPr lang="en-US" sz="2400" dirty="0"/>
          </a:p>
        </p:txBody>
      </p:sp>
      <p:sp>
        <p:nvSpPr>
          <p:cNvPr id="3" name="skill0"/>
          <p:cNvSpPr/>
          <p:nvPr/>
        </p:nvSpPr>
        <p:spPr>
          <a:xfrm>
            <a:off x="457200" y="1005840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4" name="tick0"/>
          <p:cNvSpPr/>
          <p:nvPr/>
        </p:nvSpPr>
        <p:spPr>
          <a:xfrm>
            <a:off x="457200" y="1097280"/>
            <a:ext cx="64008" cy="548640"/>
          </a:xfrm>
          <a:prstGeom prst="rect">
            <a:avLst/>
          </a:prstGeom>
          <a:solidFill>
            <a:srgbClr val="D645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0607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C13"/>
                </a:solidFill>
              </a:rPr>
              <a:t>Joins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A17"/>
                </a:solidFill>
              </a:rPr>
              <a:t>Combining up to 3 tables to reach pizza names and prices</a:t>
            </a:r>
            <a:endParaRPr lang="en-US" sz="1100" dirty="0"/>
          </a:p>
        </p:txBody>
      </p:sp>
      <p:sp>
        <p:nvSpPr>
          <p:cNvPr id="7" name="skill1"/>
          <p:cNvSpPr/>
          <p:nvPr/>
        </p:nvSpPr>
        <p:spPr>
          <a:xfrm>
            <a:off x="4663440" y="1005840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8" name="tick1"/>
          <p:cNvSpPr/>
          <p:nvPr/>
        </p:nvSpPr>
        <p:spPr>
          <a:xfrm>
            <a:off x="4663440" y="1097280"/>
            <a:ext cx="64008" cy="548640"/>
          </a:xfrm>
          <a:prstGeom prst="rect">
            <a:avLst/>
          </a:prstGeom>
          <a:solidFill>
            <a:srgbClr val="D645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0607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C13"/>
                </a:solidFill>
              </a:rPr>
              <a:t>Aggregation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371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A17"/>
                </a:solidFill>
              </a:rPr>
              <a:t>SUM, COUNT, AVG and GROUP BY for business totals</a:t>
            </a:r>
            <a:endParaRPr lang="en-US" sz="1100" dirty="0"/>
          </a:p>
        </p:txBody>
      </p:sp>
      <p:sp>
        <p:nvSpPr>
          <p:cNvPr id="11" name="skill2"/>
          <p:cNvSpPr/>
          <p:nvPr/>
        </p:nvSpPr>
        <p:spPr>
          <a:xfrm>
            <a:off x="457200" y="1874520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12" name="tick2"/>
          <p:cNvSpPr/>
          <p:nvPr/>
        </p:nvSpPr>
        <p:spPr>
          <a:xfrm>
            <a:off x="457200" y="1965960"/>
            <a:ext cx="64008" cy="548640"/>
          </a:xfrm>
          <a:prstGeom prst="rect">
            <a:avLst/>
          </a:prstGeom>
          <a:solidFill>
            <a:srgbClr val="D645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19293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C13"/>
                </a:solidFill>
              </a:rPr>
              <a:t>Subqueries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240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A17"/>
                </a:solidFill>
              </a:rPr>
              <a:t>Inner queries for daily totals and overall revenue</a:t>
            </a:r>
            <a:endParaRPr lang="en-US" sz="1100" dirty="0"/>
          </a:p>
        </p:txBody>
      </p:sp>
      <p:sp>
        <p:nvSpPr>
          <p:cNvPr id="15" name="skill3"/>
          <p:cNvSpPr/>
          <p:nvPr/>
        </p:nvSpPr>
        <p:spPr>
          <a:xfrm>
            <a:off x="4663440" y="1874520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16" name="tick3"/>
          <p:cNvSpPr/>
          <p:nvPr/>
        </p:nvSpPr>
        <p:spPr>
          <a:xfrm>
            <a:off x="4663440" y="1965960"/>
            <a:ext cx="64008" cy="548640"/>
          </a:xfrm>
          <a:prstGeom prst="rect">
            <a:avLst/>
          </a:prstGeom>
          <a:solidFill>
            <a:srgbClr val="D645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46320" y="19293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C13"/>
                </a:solidFill>
              </a:rPr>
              <a:t>Window functions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240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A17"/>
                </a:solidFill>
              </a:rPr>
              <a:t>RANK and SUM OVER for rankings and running totals</a:t>
            </a:r>
            <a:endParaRPr lang="en-US" sz="1100" dirty="0"/>
          </a:p>
        </p:txBody>
      </p:sp>
      <p:sp>
        <p:nvSpPr>
          <p:cNvPr id="19" name="skill4"/>
          <p:cNvSpPr/>
          <p:nvPr/>
        </p:nvSpPr>
        <p:spPr>
          <a:xfrm>
            <a:off x="457200" y="2743200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20" name="tick4"/>
          <p:cNvSpPr/>
          <p:nvPr/>
        </p:nvSpPr>
        <p:spPr>
          <a:xfrm>
            <a:off x="457200" y="2834640"/>
            <a:ext cx="64008" cy="548640"/>
          </a:xfrm>
          <a:prstGeom prst="rect">
            <a:avLst/>
          </a:prstGeom>
          <a:solidFill>
            <a:srgbClr val="D645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27980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C13"/>
                </a:solidFill>
              </a:rPr>
              <a:t>Date and time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108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A17"/>
                </a:solidFill>
              </a:rPr>
              <a:t>HOUR() and grouping by date for trends</a:t>
            </a:r>
            <a:endParaRPr lang="en-US" sz="1100" dirty="0"/>
          </a:p>
        </p:txBody>
      </p:sp>
      <p:sp>
        <p:nvSpPr>
          <p:cNvPr id="23" name="skill5"/>
          <p:cNvSpPr/>
          <p:nvPr/>
        </p:nvSpPr>
        <p:spPr>
          <a:xfrm>
            <a:off x="4663440" y="2743200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24" name="tick5"/>
          <p:cNvSpPr/>
          <p:nvPr/>
        </p:nvSpPr>
        <p:spPr>
          <a:xfrm>
            <a:off x="4663440" y="2834640"/>
            <a:ext cx="64008" cy="548640"/>
          </a:xfrm>
          <a:prstGeom prst="rect">
            <a:avLst/>
          </a:prstGeom>
          <a:solidFill>
            <a:srgbClr val="D645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46320" y="27980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C13"/>
                </a:solidFill>
              </a:rPr>
              <a:t>Business thinking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108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A17"/>
                </a:solidFill>
              </a:rPr>
              <a:t>Finding best sellers, peak hours and revenue share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3E26"/>
                </a:solidFill>
              </a:rPr>
              <a:t>Next step: build a Power BI dashboard on these results.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3E2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1DFC0"/>
                </a:solidFill>
              </a:rPr>
              <a:t>Any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zza Sales">
  <a:themeElements>
    <a:clrScheme name="Pizza Sales">
      <a:dk1>
        <a:srgbClr val="1F1A17"/>
      </a:dk1>
      <a:lt1>
        <a:srgbClr val="FFFFFF"/>
      </a:lt1>
      <a:dk2>
        <a:srgbClr val="8C1C13"/>
      </a:dk2>
      <a:lt2>
        <a:srgbClr val="FBF3E4"/>
      </a:lt2>
      <a:accent1>
        <a:srgbClr val="D6452B"/>
      </a:accent1>
      <a:accent2>
        <a:srgbClr val="F2A93B"/>
      </a:accent2>
      <a:accent3>
        <a:srgbClr val="4F7A3A"/>
      </a:accent3>
      <a:accent4>
        <a:srgbClr val="6B3E26"/>
      </a:accent4>
      <a:accent5>
        <a:srgbClr val="F1DFC0"/>
      </a:accent5>
      <a:accent6>
        <a:srgbClr val="3A2E27"/>
      </a:accent6>
      <a:hlink>
        <a:srgbClr val="D6452B"/>
      </a:hlink>
      <a:folHlink>
        <a:srgbClr val="6B3E26"/>
      </a:folHlink>
    </a:clrScheme>
    <a:fontScheme name="Pizza Sale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 Sales Analysis - SQL Project</dc:title>
  <dc:subject>PptxGenJS Presentation</dc:subject>
  <dc:creator>PptxGenJS</dc:creator>
  <cp:lastModifiedBy>PptxGenJS</cp:lastModifiedBy>
  <cp:revision>1</cp:revision>
  <dcterms:created xsi:type="dcterms:W3CDTF">2026-10-11T04:11:47Z</dcterms:created>
  <dcterms:modified xsi:type="dcterms:W3CDTF">2026-10-11T04:11:47Z</dcterms:modified>
</cp:coreProperties>
</file>